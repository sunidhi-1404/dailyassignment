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Barlow"/>
      <p:regular r:id="rId201314"/>
    </p:embeddedFont>
    <p:embeddedFont>
      <p:font typeface="Barlow Medium"/>
      <p:regular r:id="rId201315"/>
    </p:embeddedFont>
    <p:embeddedFont>
      <p:font typeface="Barlow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012" y="889595"/>
            <a:ext cx="6179784" cy="2669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Have you ever said…</a:t>
            </a:r>
            <a:endParaRPr lang="en-US" sz="1600" dirty="0"/>
          </a:p>
          <a:p>
            <a:pPr algn="l" indent="0" marL="0">
              <a:lnSpc>
                <a:spcPct val="133000"/>
              </a:lnSpc>
              <a:spcAft>
                <a:spcPts val="1800"/>
              </a:spcAft>
              <a:buNone/>
            </a:pPr>
            <a:r>
              <a:rPr lang="en-US" sz="160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'I'll do it in 5 minutes'</a:t>
            </a:r>
            <a:pPr algn="l" indent="0" marL="0">
              <a:lnSpc>
                <a:spcPct val="133000"/>
              </a:lnSpc>
              <a:spcAft>
                <a:spcPts val="1800"/>
              </a:spcAft>
              <a:buNone/>
            </a:pPr>
            <a:r>
              <a:rPr lang="en-US" sz="1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?</a:t>
            </a:r>
            <a:endParaRPr lang="en-US" sz="1600" dirty="0"/>
          </a:p>
          <a:p>
            <a:pPr algn="l" indent="0" marL="0">
              <a:lnSpc>
                <a:spcPct val="133000"/>
              </a:lnSpc>
              <a:spcAft>
                <a:spcPts val="1800"/>
              </a:spcAft>
              <a:buNone/>
            </a:pPr>
            <a:r>
              <a:rPr lang="en-US" sz="160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 minutes → 30 minutes → 2 hours → Tomorrow.</a:t>
            </a:r>
            <a:endParaRPr lang="en-US" sz="1600" dirty="0"/>
          </a:p>
          <a:p>
            <a:pPr algn="l" indent="0" marL="0">
              <a:lnSpc>
                <a:spcPct val="133000"/>
              </a:lnSpc>
              <a:spcAft>
                <a:spcPts val="1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 really happened?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Was it laziness?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Or was your brain trying to avoid something?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20012" y="3867547"/>
            <a:ext cx="61797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THE PSYCHOLOGY OF PROCRASTINATION</a:t>
            </a:r>
            <a:endParaRPr lang="en-US" sz="35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D97706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Why We Delay — And How to Beat It</a:t>
            </a:r>
            <a:endParaRPr lang="en-US" sz="3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20012" y="588169"/>
            <a:ext cx="1601152" cy="307677"/>
          </a:xfrm>
          <a:prstGeom prst="roundRect">
            <a:avLst>
              <a:gd name="adj" fmla="val 22116"/>
            </a:avLst>
          </a:prstGeom>
          <a:noFill/>
          <a:ln w="6350">
            <a:solidFill>
              <a:srgbClr val="F65F6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41453" y="648891"/>
            <a:ext cx="1967855" cy="18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F65F6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PROCRASTINATION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20012" y="975519"/>
            <a:ext cx="6179784" cy="562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The Procrastination Paradox</a:t>
            </a:r>
            <a:endParaRPr lang="en-US" sz="3500" dirty="0"/>
          </a:p>
        </p:txBody>
      </p:sp>
      <p:sp>
        <p:nvSpPr>
          <p:cNvPr id="6" name="Shape 3"/>
          <p:cNvSpPr/>
          <p:nvPr/>
        </p:nvSpPr>
        <p:spPr>
          <a:xfrm>
            <a:off x="574165" y="1837035"/>
            <a:ext cx="2467112" cy="4432796"/>
          </a:xfrm>
          <a:prstGeom prst="roundRect">
            <a:avLst>
              <a:gd name="adj" fmla="val 5910"/>
            </a:avLst>
          </a:prstGeom>
          <a:solidFill>
            <a:srgbClr val="F65F62">
              <a:alpha val="9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76665" y="2036366"/>
            <a:ext cx="2062111" cy="1125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50" dirty="0">
                <a:solidFill>
                  <a:srgbClr val="000000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95%</a:t>
            </a:r>
            <a:endParaRPr lang="en-US" sz="7050" dirty="0"/>
          </a:p>
        </p:txBody>
      </p:sp>
      <p:sp>
        <p:nvSpPr>
          <p:cNvPr id="8" name="Text 5"/>
          <p:cNvSpPr/>
          <p:nvPr/>
        </p:nvSpPr>
        <p:spPr>
          <a:xfrm>
            <a:off x="776665" y="3360837"/>
            <a:ext cx="2671696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of people procrastinate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3395875" y="2036366"/>
            <a:ext cx="3510172" cy="281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It’s not laziness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3395875" y="2516981"/>
            <a:ext cx="3510172" cy="357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Procrastination is usually not a time problem. It’s a </a:t>
            </a:r>
            <a:pPr algn="l" indent="0" marL="0">
              <a:lnSpc>
                <a:spcPct val="132000"/>
              </a:lnSpc>
              <a:spcAft>
                <a:spcPts val="1400"/>
              </a:spcAft>
              <a:buNone/>
            </a:pPr>
            <a:r>
              <a:rPr lang="en-US" sz="155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mood-management strategy</a:t>
            </a:r>
            <a:pPr algn="l" indent="0" marL="0">
              <a:lnSpc>
                <a:spcPct val="132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a way to escape discomfort fast.</a:t>
            </a:r>
            <a:endParaRPr lang="en-US" sz="1550" dirty="0"/>
          </a:p>
          <a:p>
            <a:pPr algn="l" indent="0" marL="0">
              <a:lnSpc>
                <a:spcPct val="132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When a task feels uncertain, boring, overwhelming, or risky, the brain reaches for relief. That’s why we know what to do and still avoid it.</a:t>
            </a:r>
            <a:endParaRPr lang="en-US" sz="15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fight isn’t with the work — it’s with the feeling it brings up.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65745"/>
            <a:ext cx="1075167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The Real Culprit: Emotional Discomfort</a:t>
            </a:r>
            <a:endParaRPr lang="en-US" sz="1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827" y="954286"/>
            <a:ext cx="10577942" cy="52000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82887" y="1458589"/>
            <a:ext cx="2150290" cy="268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Task Feels Harder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5982887" y="1813396"/>
            <a:ext cx="4891911" cy="18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longer you wait, the heavier it gets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982887" y="2673534"/>
            <a:ext cx="2150290" cy="268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Emotional Debt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5982887" y="3028341"/>
            <a:ext cx="4891911" cy="18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Guilt, stress, and pressure build up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82887" y="3888478"/>
            <a:ext cx="2150290" cy="268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Avoidance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5982887" y="4243285"/>
            <a:ext cx="4891911" cy="18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You delay it for quick relief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993638" y="5103423"/>
            <a:ext cx="2150291" cy="268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Initial Trigger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5993638" y="5458230"/>
            <a:ext cx="4891911" cy="18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task sparks anxiety, boredom, or uncertainty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20012" y="6212185"/>
            <a:ext cx="11361255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Your brain chases comfort — and procrastination offers a quick escape. But that relief is costly: what you avoid today usually returns with more urgency, more stress, and less time. It’s not a time management problem. It’s </a:t>
            </a:r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emotional regulation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20012" y="6393458"/>
            <a:ext cx="3549561" cy="515441"/>
          </a:xfrm>
          <a:prstGeom prst="roundRect">
            <a:avLst>
              <a:gd name="adj" fmla="val 8382"/>
            </a:avLst>
          </a:prstGeom>
          <a:solidFill>
            <a:srgbClr val="790709"/>
          </a:solidFill>
          <a:ln w="6350">
            <a:solidFill>
              <a:srgbClr val="9220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9150" y="6502598"/>
            <a:ext cx="333128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The Trap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29150" y="6676330"/>
            <a:ext cx="3331285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Avoidance brings short relief, then reinforces the habit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320968" y="6393458"/>
            <a:ext cx="3549660" cy="515441"/>
          </a:xfrm>
          <a:prstGeom prst="roundRect">
            <a:avLst>
              <a:gd name="adj" fmla="val 8382"/>
            </a:avLst>
          </a:prstGeom>
          <a:solidFill>
            <a:srgbClr val="790709"/>
          </a:solidFill>
          <a:ln w="6350">
            <a:solidFill>
              <a:srgbClr val="92202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30106" y="6502598"/>
            <a:ext cx="333138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The Cost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430106" y="6676330"/>
            <a:ext cx="3331385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Delays turn into guilt, stress, and panic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7922022" y="6393458"/>
            <a:ext cx="3549660" cy="515441"/>
          </a:xfrm>
          <a:prstGeom prst="roundRect">
            <a:avLst>
              <a:gd name="adj" fmla="val 8382"/>
            </a:avLst>
          </a:prstGeom>
          <a:solidFill>
            <a:srgbClr val="790709"/>
          </a:solidFill>
          <a:ln w="6350">
            <a:solidFill>
              <a:srgbClr val="92202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31160" y="6502598"/>
            <a:ext cx="333138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The Root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8031160" y="6676330"/>
            <a:ext cx="3331385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When discomfort shows up, the brain picks relief now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893961"/>
            <a:ext cx="6035028" cy="34198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239811" y="1460302"/>
            <a:ext cx="1252308" cy="297855"/>
          </a:xfrm>
          <a:prstGeom prst="roundRect">
            <a:avLst>
              <a:gd name="adj" fmla="val 22120"/>
            </a:avLst>
          </a:prstGeom>
          <a:solidFill>
            <a:srgbClr val="480405"/>
          </a:solidFill>
          <a:ln/>
        </p:spPr>
      </p:sp>
      <p:sp>
        <p:nvSpPr>
          <p:cNvPr id="4" name="Text 1"/>
          <p:cNvSpPr/>
          <p:nvPr/>
        </p:nvSpPr>
        <p:spPr>
          <a:xfrm>
            <a:off x="7357382" y="1519039"/>
            <a:ext cx="1626750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PRODUCTIVITY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239811" y="1832868"/>
            <a:ext cx="4238122" cy="544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Why Willpower Fails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239811" y="2564408"/>
            <a:ext cx="4238122" cy="1225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"Just do it"</a:t>
            </a:r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sounds good — but it often backfires. </a:t>
            </a:r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Willpower is limited</a:t>
            </a:r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and by day’s end your brain is on low battery. That’s why a task can feel easy in the morning and impossible at 6 p.m.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012" y="4734322"/>
            <a:ext cx="5282373" cy="14399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43061" y="4955778"/>
            <a:ext cx="4737874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Decision Fatigue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043061" y="5340251"/>
            <a:ext cx="4737874" cy="612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More choices drain mental energy, making distractions harder to resist. By evening, even small tasks feel heavy.</a:t>
            </a:r>
            <a:endParaRPr lang="en-US" sz="15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9210" y="4734322"/>
            <a:ext cx="5282473" cy="143996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12258" y="4955778"/>
            <a:ext cx="4737974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Motivation Follows Action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6512258" y="5340251"/>
            <a:ext cx="4737974" cy="612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Don’t wait to feel ready. Start small, build momentum, and let action create motivation.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20012" y="694134"/>
            <a:ext cx="814566" cy="249039"/>
          </a:xfrm>
          <a:prstGeom prst="roundRect">
            <a:avLst>
              <a:gd name="adj" fmla="val 22119"/>
            </a:avLst>
          </a:prstGeom>
          <a:noFill/>
          <a:ln w="6350">
            <a:solidFill>
              <a:srgbClr val="F65F6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18336" y="743248"/>
            <a:ext cx="1227504" cy="150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F65F6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QUICK WIN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616531" y="743248"/>
            <a:ext cx="1459967" cy="150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F65F6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PRODUCTIVITY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20012" y="995363"/>
            <a:ext cx="6179784" cy="455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The 2-Minute Rule That Actually Works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720012" y="1646734"/>
            <a:ext cx="6179784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Stop negotiating with the task. </a:t>
            </a:r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65F6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Commit to 2 minutes.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That tiny start lowers resistance and gets you moving fast.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12" y="2264767"/>
            <a:ext cx="819725" cy="98365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70306" y="2428677"/>
            <a:ext cx="5229491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Start Small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670306" y="2734766"/>
            <a:ext cx="5229491" cy="235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Do just 2 minutes, not the whole task.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12" y="3248422"/>
            <a:ext cx="819725" cy="98365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70306" y="3412331"/>
            <a:ext cx="5229491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Bypass the Barrier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1670306" y="3718421"/>
            <a:ext cx="5229491" cy="235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Starting is the hardest part. Once you begin, resistance usually drops.</a:t>
            </a:r>
            <a:endParaRPr lang="en-US" sz="12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12" y="4232077"/>
            <a:ext cx="819725" cy="98365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70306" y="4395986"/>
            <a:ext cx="5229491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Momentum Takes Over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1670306" y="4702076"/>
            <a:ext cx="5229491" cy="235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Action creates motivation. Minute two often feels easier than minute zero.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720012" y="5362674"/>
            <a:ext cx="6179784" cy="801191"/>
          </a:xfrm>
          <a:prstGeom prst="roundRect">
            <a:avLst>
              <a:gd name="adj" fmla="val 8594"/>
            </a:avLst>
          </a:prstGeom>
          <a:solidFill>
            <a:srgbClr val="790709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918" y="5549503"/>
            <a:ext cx="204882" cy="16390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52705" y="5534223"/>
            <a:ext cx="5483187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This works by sidestepping the emotional barrier: “I should” becomes “I’m already doing it.”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1498898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Your Anti-Procrastination Toolkit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2481858"/>
            <a:ext cx="1979166" cy="12231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0012" y="3962202"/>
            <a:ext cx="341244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Remove Friction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20012" y="4371380"/>
            <a:ext cx="3412444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Prep your workspace the night before. When starting is obvious, there's less room to stall.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625" y="2481858"/>
            <a:ext cx="1979166" cy="122316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625" y="3962202"/>
            <a:ext cx="341244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Schedule It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4389625" y="4371380"/>
            <a:ext cx="3412444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Treat deadlines like appointments: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non-negotiable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 Time-block it and protect the slot.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9238" y="2481858"/>
            <a:ext cx="1979166" cy="122316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59238" y="3962202"/>
            <a:ext cx="341244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Find Your Why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8059238" y="4371380"/>
            <a:ext cx="3412444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Link the task to a goal that matters. Purpose beats pressure when motivation fades.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2026-08-25T17:52:22Z</dcterms:created>
  <dcterms:modified xsi:type="dcterms:W3CDTF">2026-08-25T17:52:22Z</dcterms:modified>
</cp:coreProperties>
</file>